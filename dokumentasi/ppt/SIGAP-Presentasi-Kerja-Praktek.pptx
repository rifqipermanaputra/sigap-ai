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8610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Selamat pagi. Kami dari Teknik Informatika UIR akan memaparkan hasil kerja praktek di Divisi IT Pertamina EP Field Lirik, berupa sistem bernama SIGAP.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Kami mulai dari keadaan sebelum ada sistem — supaya jelas apa yang sebenarnya ingin diperbaiki.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Masalahnya bukan engineernya kurang cakap, tapi tidak ada saluran yang tertata. Semua masuk lewat percakapan, dan percakapan tidak meninggalkan catatan.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Keempat masalah ini kami rumuskan dari pengamatan langsung dan wawancara dengan engineer di lapangan.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Tujuannya bukan menggantikan engineer, melainkan menyaring supaya yang sampai ke engineer benar-benar yang perlu.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Sekarang kami masuk ke sistemnya sendiri.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SIGAP berbasis web, dibuka dari peramban. Pelapor tidak perlu akun — supaya tidak ada hambatan untuk melapor.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Hanya printer dan Windows yang cukup umum untuk dipandu sendiri. Ini bukan keterbatasan teknis, melainkan keputusan engineer lapangan.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Sebelumnya alurnya lurus dan berhenti di kepala pihak IT. Sekarang pencocokan terjadi di dalam sistem, lalu alurnya bercabang.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ini menjelaskan mesin di balik SIGAP.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Sistem tidak memahami makna kalimat — ia membandingkan kata. Itu justru kelebihannya: jawabannya tidak pernah mengarang.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dapat menguji kalimat keluhan langsung dari penyunting SOP dan melihat skornya, tanpa menunggu ada laporan masuk.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Bahasanya sengaja dibuat sederhana. Kami hindari istilah teknis, karena penggunanya pekerja lapangan, bukan orang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Nomor tiket diberikan sejak sesi dimulai. Jadi walaupun pelapor berhenti di tengah, laporannya tetap tercatat untuk rekap.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Formulir identitas sengaja diletakkan di akhir, bukan di awal. Supaya pekerja tidak malas melapor hanya karena harus mengisi data dulu.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melihat rekap untuk evaluasi, engineer melihat daftar tugas. Halaman tugas dibuat ringan karena dibuka dari ponsel di lapangan.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terakhir: apa yang dipakai membangunnya, dan apakah hasilnya benar-benar berjalan.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Kami sengaja menahan diri menambah pustaka. Makin sedikit yang dipasang, makin sedikit yang perlu dirawat Fungsi IT nanti.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Selain menguji yang harus berhasil, kami juga menguji yang harus GAGAL — supaya sistem tidak asal menjawab.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Sekarang kami tunjukkan langsung. Aplikasinya berjalan di laptop ini — bukan video, jadi Bapak/Ibu bisa meminta kami mencoba keluhan apa pun.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Kami sampaikan keterbatasannya terbuka, karena sistem ini akan diserahkan dan dirawat orang lain.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Terima kasih. Kami siap menerima pertanyaan dan masukan.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188720"/>
            <a:ext cx="4023360" cy="4023360"/>
          </a:xfrm>
          <a:prstGeom prst="roundRect">
            <a:avLst>
              <a:gd name="adj" fmla="val 50000"/>
            </a:avLst>
          </a:prstGeom>
          <a:solidFill>
            <a:srgbClr val="ACC42A">
              <a:alpha val="11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029200"/>
            <a:ext cx="2926080" cy="2926080"/>
          </a:xfrm>
          <a:prstGeom prst="roundRect">
            <a:avLst>
              <a:gd name="adj" fmla="val 50000"/>
            </a:avLst>
          </a:prstGeom>
          <a:solidFill>
            <a:srgbClr val="3F9DE0">
              <a:alpha val="13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053328" y="886968"/>
            <a:ext cx="5998464" cy="3419856"/>
          </a:xfrm>
          <a:prstGeom prst="roundRect">
            <a:avLst>
              <a:gd name="adj" fmla="val 5882"/>
            </a:avLst>
          </a:prstGeom>
          <a:solidFill>
            <a:srgbClr val="ACC42A">
              <a:alpha val="70000"/>
            </a:srgbClr>
          </a:solidFill>
          <a:ln/>
        </p:spPr>
      </p:sp>
      <p:pic>
        <p:nvPicPr>
          <p:cNvPr id="5" name="Image 0" descr="D:\KILAT\KILAT-Ketersediaan-Informasi-Layanan-ICT-Terpadu-main\dokumentasi\ppt\ilustrasi\1-her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960120"/>
            <a:ext cx="5852160" cy="32735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3504" y="1060704"/>
            <a:ext cx="2487168" cy="310896"/>
          </a:xfrm>
          <a:prstGeom prst="roundRect">
            <a:avLst>
              <a:gd name="adj" fmla="val 50000"/>
            </a:avLst>
          </a:prstGeom>
          <a:solidFill>
            <a:srgbClr val="ACC42A"/>
          </a:solidFill>
          <a:ln/>
        </p:spPr>
        <p:txBody>
          <a:bodyPr/>
          <a:lstStyle/>
          <a:p>
            <a:endParaRPr lang="en-ID" dirty="0"/>
          </a:p>
        </p:txBody>
      </p:sp>
      <p:sp>
        <p:nvSpPr>
          <p:cNvPr id="7" name="Text 4"/>
          <p:cNvSpPr/>
          <p:nvPr/>
        </p:nvSpPr>
        <p:spPr>
          <a:xfrm>
            <a:off x="603504" y="106070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40" dirty="0">
                <a:solidFill>
                  <a:srgbClr val="00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KERJA PRAKTEK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03504" y="1572768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SIGAP</a:t>
            </a:r>
            <a:endParaRPr lang="en-US" sz="8600" dirty="0"/>
          </a:p>
        </p:txBody>
      </p:sp>
      <p:sp>
        <p:nvSpPr>
          <p:cNvPr id="9" name="Text 6"/>
          <p:cNvSpPr/>
          <p:nvPr/>
        </p:nvSpPr>
        <p:spPr>
          <a:xfrm>
            <a:off x="603504" y="29260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00" dirty="0">
                <a:solidFill>
                  <a:srgbClr val="BB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Informasi Gangguan</a:t>
            </a:r>
            <a:endParaRPr lang="en-US" sz="21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2100" dirty="0">
                <a:solidFill>
                  <a:srgbClr val="BB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Aduan Pelayanan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03504" y="4041648"/>
            <a:ext cx="5029200" cy="27432"/>
          </a:xfrm>
          <a:prstGeom prst="rect">
            <a:avLst/>
          </a:prstGeom>
          <a:solidFill>
            <a:srgbClr val="ACC42A"/>
          </a:solidFill>
          <a:ln/>
        </p:spPr>
      </p:sp>
      <p:sp>
        <p:nvSpPr>
          <p:cNvPr id="11" name="Text 8"/>
          <p:cNvSpPr/>
          <p:nvPr/>
        </p:nvSpPr>
        <p:spPr>
          <a:xfrm>
            <a:off x="603504" y="426110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8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 Bantuan IT — PT Pertamina EP</a:t>
            </a:r>
            <a:endParaRPr lang="en-US" sz="13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8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1 Regional 1 Field Lirik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03504" y="5138928"/>
            <a:ext cx="6675120" cy="1060704"/>
          </a:xfrm>
          <a:prstGeom prst="roundRect">
            <a:avLst>
              <a:gd name="adj" fmla="val 12069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896112" y="5285232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150" dirty="0">
                <a:solidFill>
                  <a:srgbClr val="ACC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DISUSUN OLEH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96112" y="5522976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Andrino Syaddani · Eka Maulana Hidayat · Habib Hibatullmi’qaid</a:t>
            </a:r>
            <a:endParaRPr lang="en-US" sz="120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Rifqi Permana Putra · Sri Adinda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589520" y="554126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200" dirty="0">
                <a:solidFill>
                  <a:srgbClr val="8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Informatika · Fakultas Teknik</a:t>
            </a:r>
            <a:endParaRPr lang="en-US" sz="1200" dirty="0"/>
          </a:p>
          <a:p>
            <a:pPr marL="0" indent="0" algn="r">
              <a:lnSpc>
                <a:spcPts val="1700"/>
              </a:lnSpc>
              <a:buNone/>
            </a:pPr>
            <a:r>
              <a:rPr lang="en-US" sz="1200" dirty="0">
                <a:solidFill>
                  <a:srgbClr val="8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Islam Riau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1005840"/>
            <a:ext cx="4754880" cy="4754880"/>
          </a:xfrm>
          <a:prstGeom prst="roundRect">
            <a:avLst>
              <a:gd name="adj" fmla="val 50000"/>
            </a:avLst>
          </a:prstGeom>
          <a:solidFill>
            <a:srgbClr val="006CB8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65760" y="4389120"/>
            <a:ext cx="3291840" cy="3291840"/>
          </a:xfrm>
          <a:prstGeom prst="roundRect">
            <a:avLst>
              <a:gd name="adj" fmla="val 50000"/>
            </a:avLst>
          </a:prstGeom>
          <a:solidFill>
            <a:srgbClr val="ACC42A">
              <a:alpha val="11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3504" y="221284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2E5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3200400" y="2487168"/>
            <a:ext cx="45720" cy="1371600"/>
          </a:xfrm>
          <a:prstGeom prst="rect">
            <a:avLst/>
          </a:prstGeom>
          <a:solidFill>
            <a:srgbClr val="ACC42A"/>
          </a:solidFill>
          <a:ln/>
        </p:spPr>
      </p:sp>
      <p:sp>
        <p:nvSpPr>
          <p:cNvPr id="6" name="Text 4"/>
          <p:cNvSpPr/>
          <p:nvPr/>
        </p:nvSpPr>
        <p:spPr>
          <a:xfrm>
            <a:off x="3566160" y="2450592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yang Dihadapi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566160" y="35661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BB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keluhan IT ditangani sebelum ada SIGAP, dan apa yang hilang di sepanjang jalannya.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7548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ED1B2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7469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180" dirty="0">
                <a:solidFill>
                  <a:srgbClr val="005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3504" y="713232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Keluhan datang dari mana saja,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0D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lalu hilang begitu saja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656832" y="1719072"/>
            <a:ext cx="5038344" cy="2880360"/>
          </a:xfrm>
          <a:prstGeom prst="roundRect">
            <a:avLst>
              <a:gd name="adj" fmla="val 6349"/>
            </a:avLst>
          </a:prstGeom>
          <a:solidFill>
            <a:srgbClr val="ED1B2F">
              <a:alpha val="76000"/>
            </a:srgbClr>
          </a:solidFill>
          <a:ln/>
        </p:spPr>
      </p:sp>
      <p:pic>
        <p:nvPicPr>
          <p:cNvPr id="6" name="Image 0" descr="D:\KILAT\KILAT-Ketersediaan-Informasi-Layanan-ICT-Terpadu-main\dokumentasi\ppt\ilustrasi\2-masalah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783080"/>
            <a:ext cx="4892040" cy="27340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3504" y="1883664"/>
            <a:ext cx="5806440" cy="877824"/>
          </a:xfrm>
          <a:prstGeom prst="roundRect">
            <a:avLst>
              <a:gd name="adj" fmla="val 16667"/>
            </a:avLst>
          </a:prstGeom>
          <a:solidFill>
            <a:srgbClr val="E1EFFA"/>
          </a:solidFill>
          <a:ln/>
        </p:spPr>
      </p:sp>
      <p:sp>
        <p:nvSpPr>
          <p:cNvPr id="8" name="Text 5"/>
          <p:cNvSpPr/>
          <p:nvPr/>
        </p:nvSpPr>
        <p:spPr>
          <a:xfrm>
            <a:off x="896112" y="2048256"/>
            <a:ext cx="5221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005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hari Divisi IT menerima keluhan lewat telepon, WhatsApp, atau pekerja yang datang langsung ke ruang IT.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03504" y="310438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ED1B2F"/>
          </a:solidFill>
          <a:ln/>
        </p:spPr>
      </p:sp>
      <p:sp>
        <p:nvSpPr>
          <p:cNvPr id="10" name="Text 7"/>
          <p:cNvSpPr/>
          <p:nvPr/>
        </p:nvSpPr>
        <p:spPr>
          <a:xfrm>
            <a:off x="859536" y="3008376"/>
            <a:ext cx="5550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engineer menangani banyak permintaan sekaligus, termasuk yang sebenarnya sederhana.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03504" y="363474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ED1B2F"/>
          </a:solidFill>
          <a:ln/>
        </p:spPr>
      </p:sp>
      <p:sp>
        <p:nvSpPr>
          <p:cNvPr id="12" name="Text 9"/>
          <p:cNvSpPr/>
          <p:nvPr/>
        </p:nvSpPr>
        <p:spPr>
          <a:xfrm>
            <a:off x="859536" y="3538728"/>
            <a:ext cx="5550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catatan — jumlah dan jenis gangguan tidak pernah diketahui.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03504" y="416509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ED1B2F"/>
          </a:solidFill>
          <a:ln/>
        </p:spPr>
      </p:sp>
      <p:sp>
        <p:nvSpPr>
          <p:cNvPr id="14" name="Text 11"/>
          <p:cNvSpPr/>
          <p:nvPr/>
        </p:nvSpPr>
        <p:spPr>
          <a:xfrm>
            <a:off x="859536" y="4069080"/>
            <a:ext cx="5550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Pelapor tidak tahu keluhannya sudah ditangani atau belum.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03504" y="469544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ED1B2F"/>
          </a:solidFill>
          <a:ln/>
        </p:spPr>
      </p:sp>
      <p:sp>
        <p:nvSpPr>
          <p:cNvPr id="16" name="Text 13"/>
          <p:cNvSpPr/>
          <p:nvPr/>
        </p:nvSpPr>
        <p:spPr>
          <a:xfrm>
            <a:off x="859536" y="4599432"/>
            <a:ext cx="5550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Keluhan yang sama berulang tanpa panduan yang dapat diikuti sendiri.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03504" y="5285232"/>
            <a:ext cx="5806440" cy="786384"/>
          </a:xfrm>
          <a:prstGeom prst="roundRect">
            <a:avLst>
              <a:gd name="adj" fmla="val 18605"/>
            </a:avLst>
          </a:prstGeom>
          <a:solidFill>
            <a:srgbClr val="EEF4D9"/>
          </a:solidFill>
          <a:ln/>
        </p:spPr>
      </p:sp>
      <p:sp>
        <p:nvSpPr>
          <p:cNvPr id="18" name="Text 15"/>
          <p:cNvSpPr/>
          <p:nvPr/>
        </p:nvSpPr>
        <p:spPr>
          <a:xfrm>
            <a:off x="896112" y="5431536"/>
            <a:ext cx="5221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C6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Padahal sebagian besar keluhan berulang dan sudah ada prosedurnya.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656832" y="4864608"/>
            <a:ext cx="4956048" cy="1207008"/>
          </a:xfrm>
          <a:prstGeom prst="roundRect">
            <a:avLst>
              <a:gd name="adj" fmla="val 12121"/>
            </a:avLst>
          </a:prstGeom>
          <a:solidFill>
            <a:srgbClr val="00395E"/>
          </a:solidFill>
          <a:ln/>
        </p:spPr>
      </p:sp>
      <p:sp>
        <p:nvSpPr>
          <p:cNvPr id="20" name="Text 17"/>
          <p:cNvSpPr/>
          <p:nvPr/>
        </p:nvSpPr>
        <p:spPr>
          <a:xfrm>
            <a:off x="6949440" y="5029200"/>
            <a:ext cx="43708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“Percakapan tidak meninggalkan catatan — dan yang tidak tercatat tidak dapat dievaluasi.”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7548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006CB8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7469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180" dirty="0">
                <a:solidFill>
                  <a:srgbClr val="005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RUMUSAN MASALAH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3504" y="713232"/>
            <a:ext cx="1098468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D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hal yang ingin diperbaiki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847088"/>
            <a:ext cx="2688336" cy="2487168"/>
          </a:xfrm>
          <a:prstGeom prst="roundRect">
            <a:avLst>
              <a:gd name="adj" fmla="val 6618"/>
            </a:avLst>
          </a:prstGeom>
          <a:solidFill>
            <a:srgbClr val="FCE4E7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212848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D1B2F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32688" y="2907792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C41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Beban engineer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32688" y="3291840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Keluhan sederhana seperti kertas macet tetap harus ditangani engineer.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47288" y="1847088"/>
            <a:ext cx="2688336" cy="2487168"/>
          </a:xfrm>
          <a:prstGeom prst="roundRect">
            <a:avLst>
              <a:gd name="adj" fmla="val 6618"/>
            </a:avLst>
          </a:prstGeom>
          <a:solidFill>
            <a:srgbClr val="E1EFFA"/>
          </a:solidFill>
          <a:ln/>
        </p:spPr>
      </p:sp>
      <p:sp>
        <p:nvSpPr>
          <p:cNvPr id="11" name="Shape 9"/>
          <p:cNvSpPr/>
          <p:nvPr/>
        </p:nvSpPr>
        <p:spPr>
          <a:xfrm>
            <a:off x="3776472" y="2212848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006CB8"/>
          </a:solidFill>
          <a:ln/>
        </p:spPr>
      </p:sp>
      <p:sp>
        <p:nvSpPr>
          <p:cNvPr id="12" name="Text 10"/>
          <p:cNvSpPr/>
          <p:nvPr/>
        </p:nvSpPr>
        <p:spPr>
          <a:xfrm>
            <a:off x="3776472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776472" y="2907792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05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tercatat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776472" y="3291840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data jumlah, jenis, maupun lama penanganan gangguan.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91072" y="1847088"/>
            <a:ext cx="2688336" cy="2487168"/>
          </a:xfrm>
          <a:prstGeom prst="roundRect">
            <a:avLst>
              <a:gd name="adj" fmla="val 6618"/>
            </a:avLst>
          </a:prstGeom>
          <a:solidFill>
            <a:srgbClr val="EEF4D9"/>
          </a:solidFill>
          <a:ln/>
        </p:spPr>
      </p:sp>
      <p:sp>
        <p:nvSpPr>
          <p:cNvPr id="16" name="Shape 14"/>
          <p:cNvSpPr/>
          <p:nvPr/>
        </p:nvSpPr>
        <p:spPr>
          <a:xfrm>
            <a:off x="6620256" y="2212848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8AA019"/>
          </a:solidFill>
          <a:ln/>
        </p:spPr>
      </p:sp>
      <p:sp>
        <p:nvSpPr>
          <p:cNvPr id="17" name="Text 15"/>
          <p:cNvSpPr/>
          <p:nvPr/>
        </p:nvSpPr>
        <p:spPr>
          <a:xfrm>
            <a:off x="6620256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620256" y="2907792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5C6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tidak jelas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620256" y="3291840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Pelapor harus bertanya ulang untuk tahu perkembangan laporannya.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34856" y="1847088"/>
            <a:ext cx="2688336" cy="2487168"/>
          </a:xfrm>
          <a:prstGeom prst="roundRect">
            <a:avLst>
              <a:gd name="adj" fmla="val 6618"/>
            </a:avLst>
          </a:prstGeom>
          <a:solidFill>
            <a:srgbClr val="00395E"/>
          </a:solidFill>
          <a:ln/>
        </p:spPr>
      </p:sp>
      <p:sp>
        <p:nvSpPr>
          <p:cNvPr id="21" name="Shape 19"/>
          <p:cNvSpPr/>
          <p:nvPr/>
        </p:nvSpPr>
        <p:spPr>
          <a:xfrm>
            <a:off x="9464040" y="2212848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ACC42A"/>
          </a:solidFill>
          <a:ln/>
        </p:spPr>
      </p:sp>
      <p:sp>
        <p:nvSpPr>
          <p:cNvPr id="22" name="Text 20"/>
          <p:cNvSpPr/>
          <p:nvPr/>
        </p:nvSpPr>
        <p:spPr>
          <a:xfrm>
            <a:off x="9464040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464040" y="2907792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 sasaran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464040" y="3291840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BB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kadang sampai ke engineer yang bukan bidangnya.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03504" y="4791456"/>
            <a:ext cx="10984687" cy="914400"/>
          </a:xfrm>
          <a:prstGeom prst="roundRect">
            <a:avLst>
              <a:gd name="adj" fmla="val 18000"/>
            </a:avLst>
          </a:prstGeom>
          <a:solidFill>
            <a:srgbClr val="006CB8"/>
          </a:solidFill>
          <a:ln/>
        </p:spPr>
      </p:sp>
      <p:sp>
        <p:nvSpPr>
          <p:cNvPr id="26" name="Shape 24"/>
          <p:cNvSpPr/>
          <p:nvPr/>
        </p:nvSpPr>
        <p:spPr>
          <a:xfrm>
            <a:off x="987552" y="508406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ACC42A"/>
          </a:solidFill>
          <a:ln/>
        </p:spPr>
      </p:sp>
      <p:sp>
        <p:nvSpPr>
          <p:cNvPr id="27" name="Text 25"/>
          <p:cNvSpPr/>
          <p:nvPr/>
        </p:nvSpPr>
        <p:spPr>
          <a:xfrm>
            <a:off x="1536192" y="4791456"/>
            <a:ext cx="96679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Keempatnya berpangkal pada satu hal yang sama: tidak ada tempat keluhan itu dicatat dan ditelusuri.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7548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ACC42A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7469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180" dirty="0">
                <a:solidFill>
                  <a:srgbClr val="005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3504" y="713232"/>
            <a:ext cx="1098468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D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sasaran yang ingin dicapai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700784"/>
            <a:ext cx="6858000" cy="1152144"/>
          </a:xfrm>
          <a:prstGeom prst="roundRect">
            <a:avLst>
              <a:gd name="adj" fmla="val 12698"/>
            </a:avLst>
          </a:prstGeom>
          <a:solidFill>
            <a:srgbClr val="FFFFFF">
              <a:alpha val="6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77824" y="1865376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006CB8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8653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00784" y="1828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Meringankan engineer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00784" y="2212848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68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 umum dapat diselesaikan sendiri oleh pelapor melalui panduan berbasis SOP perusahaan.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" y="3035808"/>
            <a:ext cx="6858000" cy="1152144"/>
          </a:xfrm>
          <a:prstGeom prst="roundRect">
            <a:avLst>
              <a:gd name="adj" fmla="val 12698"/>
            </a:avLst>
          </a:prstGeom>
          <a:solidFill>
            <a:srgbClr val="FFFFFF">
              <a:alpha val="6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77824" y="320040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8AA019"/>
          </a:solidFill>
          <a:ln/>
        </p:spPr>
      </p:sp>
      <p:sp>
        <p:nvSpPr>
          <p:cNvPr id="12" name="Text 10"/>
          <p:cNvSpPr/>
          <p:nvPr/>
        </p:nvSpPr>
        <p:spPr>
          <a:xfrm>
            <a:off x="877824" y="32004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00784" y="316382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laporan tercatat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00784" y="3547872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68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keluhan memperoleh nomor tiket dan tersimpan sehingga dapat direkap dan dievaluasi.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" y="4370832"/>
            <a:ext cx="6858000" cy="1152144"/>
          </a:xfrm>
          <a:prstGeom prst="roundRect">
            <a:avLst>
              <a:gd name="adj" fmla="val 12698"/>
            </a:avLst>
          </a:prstGeom>
          <a:solidFill>
            <a:srgbClr val="FFFFFF">
              <a:alpha val="6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77824" y="4535424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ED1B2F"/>
          </a:solidFill>
          <a:ln/>
        </p:spPr>
      </p:sp>
      <p:sp>
        <p:nvSpPr>
          <p:cNvPr id="17" name="Text 15"/>
          <p:cNvSpPr/>
          <p:nvPr/>
        </p:nvSpPr>
        <p:spPr>
          <a:xfrm>
            <a:off x="877824" y="453542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00784" y="44988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Mengarahkan ke engineer yang tepat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00784" y="4882896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68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Keluhan yang memang perlu penanganan teknis diteruskan lengkap dengan identitas dan lokasinya.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882128" y="1700784"/>
            <a:ext cx="3730752" cy="4206240"/>
          </a:xfrm>
          <a:prstGeom prst="roundRect">
            <a:avLst>
              <a:gd name="adj" fmla="val 4902"/>
            </a:avLst>
          </a:prstGeom>
          <a:solidFill>
            <a:srgbClr val="ACC42A"/>
          </a:solidFill>
          <a:ln/>
        </p:spPr>
      </p:sp>
      <p:sp>
        <p:nvSpPr>
          <p:cNvPr id="21" name="Shape 19"/>
          <p:cNvSpPr/>
          <p:nvPr/>
        </p:nvSpPr>
        <p:spPr>
          <a:xfrm>
            <a:off x="8211312" y="20116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2B47"/>
          </a:solidFill>
          <a:ln/>
        </p:spPr>
      </p:sp>
      <p:sp>
        <p:nvSpPr>
          <p:cNvPr id="22" name="Text 20"/>
          <p:cNvSpPr/>
          <p:nvPr/>
        </p:nvSpPr>
        <p:spPr>
          <a:xfrm>
            <a:off x="8211312" y="2578608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yang dipegang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11312" y="3072384"/>
            <a:ext cx="30723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2E3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“Menjawab bahwa kendala belum dapat dikenali, lalu mengarahkan ke engineer, jauh lebih baik daripada memberi langkah perbaikan untuk masalah yang keliru.”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11312" y="5266944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3F4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ini menentukan seluruh keputusan rancangan sistem.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1005840"/>
            <a:ext cx="4754880" cy="4754880"/>
          </a:xfrm>
          <a:prstGeom prst="roundRect">
            <a:avLst>
              <a:gd name="adj" fmla="val 50000"/>
            </a:avLst>
          </a:prstGeom>
          <a:solidFill>
            <a:srgbClr val="006CB8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65760" y="4389120"/>
            <a:ext cx="3291840" cy="3291840"/>
          </a:xfrm>
          <a:prstGeom prst="roundRect">
            <a:avLst>
              <a:gd name="adj" fmla="val 50000"/>
            </a:avLst>
          </a:prstGeom>
          <a:solidFill>
            <a:srgbClr val="ACC42A">
              <a:alpha val="11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3504" y="221284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2E5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3200400" y="2487168"/>
            <a:ext cx="45720" cy="1371600"/>
          </a:xfrm>
          <a:prstGeom prst="rect">
            <a:avLst/>
          </a:prstGeom>
          <a:solidFill>
            <a:srgbClr val="ACC42A"/>
          </a:solidFill>
          <a:ln/>
        </p:spPr>
      </p:sp>
      <p:sp>
        <p:nvSpPr>
          <p:cNvPr id="6" name="Text 4"/>
          <p:cNvSpPr/>
          <p:nvPr/>
        </p:nvSpPr>
        <p:spPr>
          <a:xfrm>
            <a:off x="3566160" y="2450592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yang Dibangun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566160" y="35661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BB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SIGAP, layanan apa saja yang dicakup, dan bagaimana alurnya berubah.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7548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006CB8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7469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180" dirty="0">
                <a:solidFill>
                  <a:srgbClr val="005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3504" y="713232"/>
            <a:ext cx="1098468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D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SIGAP — pendamping, bukan pengganti engineer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39496" y="1719072"/>
            <a:ext cx="5660136" cy="3218688"/>
          </a:xfrm>
          <a:prstGeom prst="roundRect">
            <a:avLst>
              <a:gd name="adj" fmla="val 5682"/>
            </a:avLst>
          </a:prstGeom>
          <a:solidFill>
            <a:srgbClr val="006CB8">
              <a:alpha val="76000"/>
            </a:srgbClr>
          </a:solidFill>
          <a:ln/>
        </p:spPr>
      </p:sp>
      <p:pic>
        <p:nvPicPr>
          <p:cNvPr id="6" name="Image 0" descr="D:\KILAT\KILAT-Ketersediaan-Informasi-Layanan-ICT-Terpadu-main\dokumentasi\ppt\ilustrasi\1-her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1783080"/>
            <a:ext cx="5532120" cy="3090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3504" y="5047488"/>
            <a:ext cx="5532120" cy="1005840"/>
          </a:xfrm>
          <a:prstGeom prst="roundRect">
            <a:avLst>
              <a:gd name="adj" fmla="val 14545"/>
            </a:avLst>
          </a:prstGeom>
          <a:solidFill>
            <a:srgbClr val="00395E"/>
          </a:solidFill>
          <a:ln/>
        </p:spPr>
      </p:sp>
      <p:sp>
        <p:nvSpPr>
          <p:cNvPr id="8" name="Text 5"/>
          <p:cNvSpPr/>
          <p:nvPr/>
        </p:nvSpPr>
        <p:spPr>
          <a:xfrm>
            <a:off x="877824" y="5193792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web yang menuntun pekerja menyelesaikan kendala IT sendiri berdasarkan SOP perusahaan, dan meneruskan ke engineer bila memang perlu.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83680" y="1737360"/>
            <a:ext cx="5029200" cy="950976"/>
          </a:xfrm>
          <a:prstGeom prst="roundRect">
            <a:avLst>
              <a:gd name="adj" fmla="val 15385"/>
            </a:avLst>
          </a:prstGeom>
          <a:solidFill>
            <a:srgbClr val="E1EFFA"/>
          </a:solidFill>
          <a:ln/>
        </p:spPr>
      </p:sp>
      <p:sp>
        <p:nvSpPr>
          <p:cNvPr id="10" name="Shape 7"/>
          <p:cNvSpPr/>
          <p:nvPr/>
        </p:nvSpPr>
        <p:spPr>
          <a:xfrm>
            <a:off x="6858000" y="201168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06CB8"/>
          </a:solidFill>
          <a:ln/>
        </p:spPr>
      </p:sp>
      <p:sp>
        <p:nvSpPr>
          <p:cNvPr id="11" name="Shape 8"/>
          <p:cNvSpPr/>
          <p:nvPr/>
        </p:nvSpPr>
        <p:spPr>
          <a:xfrm>
            <a:off x="6981444" y="2135124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7424928" y="18836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05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pemasangan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424928" y="219456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Cukup dibuka lewat peramban, tidak perlu memasang aplikasi apa pun.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583680" y="2825496"/>
            <a:ext cx="5029200" cy="950976"/>
          </a:xfrm>
          <a:prstGeom prst="roundRect">
            <a:avLst>
              <a:gd name="adj" fmla="val 15385"/>
            </a:avLst>
          </a:prstGeom>
          <a:solidFill>
            <a:srgbClr val="EEF4D9"/>
          </a:solidFill>
          <a:ln/>
        </p:spPr>
      </p:sp>
      <p:sp>
        <p:nvSpPr>
          <p:cNvPr id="15" name="Shape 12"/>
          <p:cNvSpPr/>
          <p:nvPr/>
        </p:nvSpPr>
        <p:spPr>
          <a:xfrm>
            <a:off x="6858000" y="309981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8AA019"/>
          </a:solidFill>
          <a:ln/>
        </p:spPr>
      </p:sp>
      <p:sp>
        <p:nvSpPr>
          <p:cNvPr id="16" name="Shape 13"/>
          <p:cNvSpPr/>
          <p:nvPr/>
        </p:nvSpPr>
        <p:spPr>
          <a:xfrm>
            <a:off x="6981444" y="3223260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7424928" y="2971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5C6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akun bagi pelapor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7424928" y="328269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Pekerja langsung melapor; akun hanya untuk admin dan engineer.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583680" y="3913632"/>
            <a:ext cx="5029200" cy="950976"/>
          </a:xfrm>
          <a:prstGeom prst="roundRect">
            <a:avLst>
              <a:gd name="adj" fmla="val 15385"/>
            </a:avLst>
          </a:prstGeom>
          <a:solidFill>
            <a:srgbClr val="FCE4E7"/>
          </a:solidFill>
          <a:ln/>
        </p:spPr>
      </p:sp>
      <p:sp>
        <p:nvSpPr>
          <p:cNvPr id="20" name="Shape 17"/>
          <p:cNvSpPr/>
          <p:nvPr/>
        </p:nvSpPr>
        <p:spPr>
          <a:xfrm>
            <a:off x="6858000" y="418795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D1B2F"/>
          </a:solidFill>
          <a:ln/>
        </p:spPr>
      </p:sp>
      <p:sp>
        <p:nvSpPr>
          <p:cNvPr id="21" name="Shape 18"/>
          <p:cNvSpPr/>
          <p:nvPr/>
        </p:nvSpPr>
        <p:spPr>
          <a:xfrm>
            <a:off x="6981444" y="4311396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7424928" y="40599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C41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 selalu sama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7424928" y="437083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langkah berasal dari SOP, bukan dikarang sistem.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583680" y="5001768"/>
            <a:ext cx="5029200" cy="950976"/>
          </a:xfrm>
          <a:prstGeom prst="roundRect">
            <a:avLst>
              <a:gd name="adj" fmla="val 15385"/>
            </a:avLst>
          </a:prstGeom>
          <a:solidFill>
            <a:srgbClr val="E1EFFA"/>
          </a:solidFill>
          <a:ln/>
        </p:spPr>
      </p:sp>
      <p:sp>
        <p:nvSpPr>
          <p:cNvPr id="25" name="Shape 22"/>
          <p:cNvSpPr/>
          <p:nvPr/>
        </p:nvSpPr>
        <p:spPr>
          <a:xfrm>
            <a:off x="6858000" y="527608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06CB8"/>
          </a:solidFill>
          <a:ln/>
        </p:spPr>
      </p:sp>
      <p:sp>
        <p:nvSpPr>
          <p:cNvPr id="26" name="Shape 23"/>
          <p:cNvSpPr/>
          <p:nvPr/>
        </p:nvSpPr>
        <p:spPr>
          <a:xfrm>
            <a:off x="6981444" y="5399532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7424928" y="51480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05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Berjalan tanpa internet luar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7424928" y="545896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Cukup jaringan kantor — tidak bergantung layanan pihak ketiga.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7548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8AA019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7469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180" dirty="0">
                <a:solidFill>
                  <a:srgbClr val="5C6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CAKUPAN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3504" y="713232"/>
            <a:ext cx="1098468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D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Delapan kategori layanan, dua mode penanganan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70078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8AA019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627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5C6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MANDIRI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3504" y="2011680"/>
            <a:ext cx="2459736" cy="1298448"/>
          </a:xfrm>
          <a:prstGeom prst="roundRect">
            <a:avLst>
              <a:gd name="adj" fmla="val 12676"/>
            </a:avLst>
          </a:prstGeom>
          <a:solidFill>
            <a:srgbClr val="ACC42A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" y="2286000"/>
            <a:ext cx="2459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03504" y="2743200"/>
            <a:ext cx="2459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F4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langkah bertahap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18688" y="2011680"/>
            <a:ext cx="2459736" cy="1298448"/>
          </a:xfrm>
          <a:prstGeom prst="roundRect">
            <a:avLst>
              <a:gd name="adj" fmla="val 12676"/>
            </a:avLst>
          </a:prstGeom>
          <a:solidFill>
            <a:srgbClr val="ACC42A"/>
          </a:solidFill>
          <a:ln/>
        </p:spPr>
      </p:sp>
      <p:sp>
        <p:nvSpPr>
          <p:cNvPr id="11" name="Text 9"/>
          <p:cNvSpPr/>
          <p:nvPr/>
        </p:nvSpPr>
        <p:spPr>
          <a:xfrm>
            <a:off x="3218688" y="2286000"/>
            <a:ext cx="2459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218688" y="2743200"/>
            <a:ext cx="2459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F4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langkah bertahap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" y="3456432"/>
            <a:ext cx="5074920" cy="1042416"/>
          </a:xfrm>
          <a:prstGeom prst="roundRect">
            <a:avLst>
              <a:gd name="adj" fmla="val 14035"/>
            </a:avLst>
          </a:prstGeom>
          <a:solidFill>
            <a:srgbClr val="FFFFFF">
              <a:alpha val="7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" y="3602736"/>
            <a:ext cx="45628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Keluhan dituntun langkah demi langkah. Bila ketiga langkah belum menuntaskan, barulah ditawarkan bantuan engineer.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53328" y="170078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006CB8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16276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005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LANGSUNG KE ENGINEER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53328" y="2011680"/>
            <a:ext cx="1792224" cy="822960"/>
          </a:xfrm>
          <a:prstGeom prst="roundRect">
            <a:avLst>
              <a:gd name="adj" fmla="val 17778"/>
            </a:avLst>
          </a:prstGeom>
          <a:solidFill>
            <a:srgbClr val="00395E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20116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46136" y="2011680"/>
            <a:ext cx="1792224" cy="822960"/>
          </a:xfrm>
          <a:prstGeom prst="roundRect">
            <a:avLst>
              <a:gd name="adj" fmla="val 17778"/>
            </a:avLst>
          </a:prstGeom>
          <a:solidFill>
            <a:srgbClr val="00395E"/>
          </a:solidFill>
          <a:ln/>
        </p:spPr>
      </p:sp>
      <p:sp>
        <p:nvSpPr>
          <p:cNvPr id="20" name="Text 18"/>
          <p:cNvSpPr/>
          <p:nvPr/>
        </p:nvSpPr>
        <p:spPr>
          <a:xfrm>
            <a:off x="8019288" y="20116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838944" y="2011680"/>
            <a:ext cx="1792224" cy="822960"/>
          </a:xfrm>
          <a:prstGeom prst="roundRect">
            <a:avLst>
              <a:gd name="adj" fmla="val 17778"/>
            </a:avLst>
          </a:prstGeom>
          <a:solidFill>
            <a:srgbClr val="00395E"/>
          </a:solidFill>
          <a:ln/>
        </p:spPr>
      </p:sp>
      <p:sp>
        <p:nvSpPr>
          <p:cNvPr id="22" name="Text 20"/>
          <p:cNvSpPr/>
          <p:nvPr/>
        </p:nvSpPr>
        <p:spPr>
          <a:xfrm>
            <a:off x="9912096" y="20116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Komunikasi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53328" y="2944368"/>
            <a:ext cx="1792224" cy="822960"/>
          </a:xfrm>
          <a:prstGeom prst="roundRect">
            <a:avLst>
              <a:gd name="adj" fmla="val 17778"/>
            </a:avLst>
          </a:prstGeom>
          <a:solidFill>
            <a:srgbClr val="00395E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294436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FTTH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946136" y="2944368"/>
            <a:ext cx="1792224" cy="822960"/>
          </a:xfrm>
          <a:prstGeom prst="roundRect">
            <a:avLst>
              <a:gd name="adj" fmla="val 17778"/>
            </a:avLst>
          </a:prstGeom>
          <a:solidFill>
            <a:srgbClr val="00395E"/>
          </a:solidFill>
          <a:ln/>
        </p:spPr>
      </p:sp>
      <p:sp>
        <p:nvSpPr>
          <p:cNvPr id="26" name="Text 24"/>
          <p:cNvSpPr/>
          <p:nvPr/>
        </p:nvSpPr>
        <p:spPr>
          <a:xfrm>
            <a:off x="8019288" y="294436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838944" y="2944368"/>
            <a:ext cx="1792224" cy="822960"/>
          </a:xfrm>
          <a:prstGeom prst="roundRect">
            <a:avLst>
              <a:gd name="adj" fmla="val 17778"/>
            </a:avLst>
          </a:prstGeom>
          <a:solidFill>
            <a:srgbClr val="00395E"/>
          </a:solidFill>
          <a:ln/>
        </p:spPr>
      </p:sp>
      <p:sp>
        <p:nvSpPr>
          <p:cNvPr id="28" name="Text 26"/>
          <p:cNvSpPr/>
          <p:nvPr/>
        </p:nvSpPr>
        <p:spPr>
          <a:xfrm>
            <a:off x="9912096" y="294436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053328" y="3968496"/>
            <a:ext cx="5559552" cy="1042416"/>
          </a:xfrm>
          <a:prstGeom prst="roundRect">
            <a:avLst>
              <a:gd name="adj" fmla="val 14035"/>
            </a:avLst>
          </a:prstGeom>
          <a:solidFill>
            <a:srgbClr val="FFFFFF">
              <a:alpha val="7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4114800"/>
            <a:ext cx="50474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Gangguan pada keenam layanan ini memerlukan pemeriksaan perangkat atau kondisi fisik di lapangan, sehingga langsung diteruskan tanpa panduan mandiri.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03504" y="5193792"/>
            <a:ext cx="10984687" cy="932688"/>
          </a:xfrm>
          <a:prstGeom prst="roundRect">
            <a:avLst>
              <a:gd name="adj" fmla="val 17647"/>
            </a:avLst>
          </a:prstGeom>
          <a:solidFill>
            <a:srgbClr val="ED1B2F"/>
          </a:solidFill>
          <a:ln/>
        </p:spPr>
      </p:sp>
      <p:sp>
        <p:nvSpPr>
          <p:cNvPr id="32" name="Shape 30"/>
          <p:cNvSpPr/>
          <p:nvPr/>
        </p:nvSpPr>
        <p:spPr>
          <a:xfrm>
            <a:off x="987552" y="549554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1536192" y="5193792"/>
            <a:ext cx="9667951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Pembagian ini keputusan Engineer IT lapangan — SOP keenam layanan itu sangat spesifik dan tidak boleh disusun dari sumber umum.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7548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006CB8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7469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180" dirty="0">
                <a:solidFill>
                  <a:srgbClr val="005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ALUR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3504" y="713232"/>
            <a:ext cx="1098468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berubah bukan medianya, tapi percabangannya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600" y="1408176"/>
            <a:ext cx="9445752" cy="5047488"/>
          </a:xfrm>
          <a:prstGeom prst="roundRect">
            <a:avLst>
              <a:gd name="adj" fmla="val 3261"/>
            </a:avLst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6" name="Image 0" descr="D:\KILAT\KILAT-Ketersediaan-Informasi-Layanan-ICT-Terpadu-main\dokumentasi\diagram\gambar-4-17-perbandingan-alu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608" y="1463040"/>
            <a:ext cx="9317736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1005840"/>
            <a:ext cx="4754880" cy="4754880"/>
          </a:xfrm>
          <a:prstGeom prst="roundRect">
            <a:avLst>
              <a:gd name="adj" fmla="val 50000"/>
            </a:avLst>
          </a:prstGeom>
          <a:solidFill>
            <a:srgbClr val="006CB8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65760" y="4389120"/>
            <a:ext cx="3291840" cy="3291840"/>
          </a:xfrm>
          <a:prstGeom prst="roundRect">
            <a:avLst>
              <a:gd name="adj" fmla="val 50000"/>
            </a:avLst>
          </a:prstGeom>
          <a:solidFill>
            <a:srgbClr val="ACC42A">
              <a:alpha val="11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3504" y="221284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2E5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3200400" y="2487168"/>
            <a:ext cx="45720" cy="1371600"/>
          </a:xfrm>
          <a:prstGeom prst="rect">
            <a:avLst/>
          </a:prstGeom>
          <a:solidFill>
            <a:srgbClr val="ACC42A"/>
          </a:solidFill>
          <a:ln/>
        </p:spPr>
      </p:sp>
      <p:sp>
        <p:nvSpPr>
          <p:cNvPr id="6" name="Text 4"/>
          <p:cNvSpPr/>
          <p:nvPr/>
        </p:nvSpPr>
        <p:spPr>
          <a:xfrm>
            <a:off x="3566160" y="2450592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Kerjanya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566160" y="35661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BB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keluhan berbahasa sehari-hari dicocokkan dengan prosedur, tanpa AI generatif.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7548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006CB8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7469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180" dirty="0">
                <a:solidFill>
                  <a:srgbClr val="005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KERJA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3504" y="713232"/>
            <a:ext cx="1098468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D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keyword matching — tanpa AI generatif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793992" y="1719072"/>
            <a:ext cx="4864608" cy="2779776"/>
          </a:xfrm>
          <a:prstGeom prst="roundRect">
            <a:avLst>
              <a:gd name="adj" fmla="val 6579"/>
            </a:avLst>
          </a:prstGeom>
          <a:solidFill>
            <a:srgbClr val="ACC42A">
              <a:alpha val="74000"/>
            </a:srgbClr>
          </a:solidFill>
          <a:ln/>
        </p:spPr>
      </p:sp>
      <p:pic>
        <p:nvPicPr>
          <p:cNvPr id="6" name="Image 0" descr="D:\KILAT\KILAT-Ketersediaan-Informasi-Layanan-ICT-Terpadu-main\dokumentasi\ppt\ilustrasi\3-pencocokan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0" y="1783080"/>
            <a:ext cx="4736592" cy="2651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3504" y="1682496"/>
            <a:ext cx="5943600" cy="896112"/>
          </a:xfrm>
          <a:prstGeom prst="roundRect">
            <a:avLst>
              <a:gd name="adj" fmla="val 14286"/>
            </a:avLst>
          </a:prstGeom>
          <a:solidFill>
            <a:srgbClr val="FFFFFF">
              <a:alpha val="74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4672" y="1828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6CB8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426464" y="17739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D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Pelapor menulis keluhan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426464" y="20848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68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bahasa sehari-hari, termasuk singkatan.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03504" y="2624328"/>
            <a:ext cx="5943600" cy="896112"/>
          </a:xfrm>
          <a:prstGeom prst="roundRect">
            <a:avLst>
              <a:gd name="adj" fmla="val 14286"/>
            </a:avLst>
          </a:prstGeom>
          <a:solidFill>
            <a:srgbClr val="FFFFFF">
              <a:alpha val="74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804672" y="2770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F9DE0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426464" y="27157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D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mengurai kata kunci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426464" y="30266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68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Istilah tidak baku diseragamkan — “lemot” menjadi “lambat”.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03504" y="3566160"/>
            <a:ext cx="5943600" cy="896112"/>
          </a:xfrm>
          <a:prstGeom prst="roundRect">
            <a:avLst>
              <a:gd name="adj" fmla="val 14286"/>
            </a:avLst>
          </a:prstGeom>
          <a:solidFill>
            <a:srgbClr val="FFFFFF">
              <a:alpha val="74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804672" y="37124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AA019"/>
          </a:solidFill>
          <a:ln/>
        </p:spPr>
      </p:sp>
      <p:sp>
        <p:nvSpPr>
          <p:cNvPr id="19" name="Text 16"/>
          <p:cNvSpPr/>
          <p:nvPr/>
        </p:nvSpPr>
        <p:spPr>
          <a:xfrm>
            <a:off x="804672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426464" y="3657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D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Dicocokkan dengan SOP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1426464" y="39684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68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 dibandingkan dengan judul, gejala, dan penyebab tiap masalah.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03504" y="4507992"/>
            <a:ext cx="5943600" cy="896112"/>
          </a:xfrm>
          <a:prstGeom prst="roundRect">
            <a:avLst>
              <a:gd name="adj" fmla="val 14286"/>
            </a:avLst>
          </a:prstGeom>
          <a:solidFill>
            <a:srgbClr val="FFFFFF">
              <a:alpha val="74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804672" y="46542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D1B2F"/>
          </a:solidFill>
          <a:ln/>
        </p:spPr>
      </p:sp>
      <p:sp>
        <p:nvSpPr>
          <p:cNvPr id="24" name="Text 21"/>
          <p:cNvSpPr/>
          <p:nvPr/>
        </p:nvSpPr>
        <p:spPr>
          <a:xfrm>
            <a:off x="804672" y="4654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426464" y="45994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D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atau diteruskan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1426464" y="49103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68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 skor melewati ambang 0,4 panduan ditampilkan; bila tidak, diteruskan.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793992" y="4736592"/>
            <a:ext cx="4864608" cy="1280160"/>
          </a:xfrm>
          <a:prstGeom prst="roundRect">
            <a:avLst>
              <a:gd name="adj" fmla="val 12857"/>
            </a:avLst>
          </a:prstGeom>
          <a:solidFill>
            <a:srgbClr val="00395E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4919472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ACC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bukan AI generatif?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7086600" y="5285232"/>
            <a:ext cx="4279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BB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 jawaban selalu sama, dapat dipertanggungjawabkan terhadap SOP, dan tidak mungkin mengarang langkah yang tidak ada.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7548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8AA019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7469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180" dirty="0">
                <a:solidFill>
                  <a:srgbClr val="005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3504" y="713232"/>
            <a:ext cx="1098468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D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Pencocokan diuji langsung dari penyunting SOP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636776"/>
            <a:ext cx="7196328" cy="4270248"/>
          </a:xfrm>
          <a:prstGeom prst="roundRect">
            <a:avLst>
              <a:gd name="adj" fmla="val 3854"/>
            </a:avLst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6" name="Image 0" descr="D:\KILAT\KILAT-Ketersediaan-Informasi-Layanan-ICT-Terpadu-main\dokumentasi\tangkapan-layar\laporan\02-pencocokan-kata-kunci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3504" y="1691640"/>
            <a:ext cx="7086600" cy="4160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18704" y="1691640"/>
            <a:ext cx="3694176" cy="1975104"/>
          </a:xfrm>
          <a:prstGeom prst="roundRect">
            <a:avLst>
              <a:gd name="adj" fmla="val 8333"/>
            </a:avLst>
          </a:prstGeom>
          <a:solidFill>
            <a:srgbClr val="ACC42A"/>
          </a:solidFill>
          <a:ln/>
        </p:spPr>
      </p:sp>
      <p:sp>
        <p:nvSpPr>
          <p:cNvPr id="8" name="Text 5"/>
          <p:cNvSpPr/>
          <p:nvPr/>
        </p:nvSpPr>
        <p:spPr>
          <a:xfrm>
            <a:off x="8211312" y="18836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40" dirty="0">
                <a:solidFill>
                  <a:srgbClr val="3F4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MASUKAN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11312" y="21762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i="1" dirty="0">
                <a:solidFill>
                  <a:srgbClr val="00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“kertas nyangkut di printer”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11312" y="27066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40" dirty="0">
                <a:solidFill>
                  <a:srgbClr val="3F4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211312" y="298094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0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Kertas Macet di Dalam Printer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7918704" y="3840480"/>
            <a:ext cx="1773936" cy="1261872"/>
          </a:xfrm>
          <a:prstGeom prst="roundRect">
            <a:avLst>
              <a:gd name="adj" fmla="val 13043"/>
            </a:avLst>
          </a:prstGeom>
          <a:solidFill>
            <a:srgbClr val="006CB8"/>
          </a:solidFill>
          <a:ln/>
        </p:spPr>
      </p:sp>
      <p:sp>
        <p:nvSpPr>
          <p:cNvPr id="13" name="Text 10"/>
          <p:cNvSpPr/>
          <p:nvPr/>
        </p:nvSpPr>
        <p:spPr>
          <a:xfrm>
            <a:off x="7918704" y="4023360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7918704" y="4608576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cocok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838944" y="3840480"/>
            <a:ext cx="1773936" cy="1261872"/>
          </a:xfrm>
          <a:prstGeom prst="roundRect">
            <a:avLst>
              <a:gd name="adj" fmla="val 13043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9838944" y="4023360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8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9838944" y="4608576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8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ambang minimum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918704" y="5266944"/>
            <a:ext cx="3694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bawah ambang, sistem menyatakan keluhan belum dikenali dan menawarkan engineer — tidak memaksakan jawaban.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7548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8AA019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7469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180" dirty="0">
                <a:solidFill>
                  <a:srgbClr val="5C6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MANDIRI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3504" y="713232"/>
            <a:ext cx="1098468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D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yang dapat diikuti tanpa istilah teknis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934456" y="1636776"/>
            <a:ext cx="5715000" cy="4315968"/>
          </a:xfrm>
          <a:prstGeom prst="roundRect">
            <a:avLst>
              <a:gd name="adj" fmla="val 3814"/>
            </a:avLst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6" name="Image 0" descr="D:\KILAT\KILAT-Ketersediaan-Informasi-Layanan-ICT-Terpadu-main\dokumentasi\tangkapan-layar\laporan\03-panduan-printe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89320" y="1691640"/>
            <a:ext cx="5605272" cy="4206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3504" y="1719072"/>
            <a:ext cx="5074920" cy="932688"/>
          </a:xfrm>
          <a:prstGeom prst="roundRect">
            <a:avLst>
              <a:gd name="adj" fmla="val 15686"/>
            </a:avLst>
          </a:prstGeom>
          <a:solidFill>
            <a:srgbClr val="00395E"/>
          </a:solidFill>
          <a:ln/>
        </p:spPr>
      </p:sp>
      <p:sp>
        <p:nvSpPr>
          <p:cNvPr id="8" name="Text 5"/>
          <p:cNvSpPr/>
          <p:nvPr/>
        </p:nvSpPr>
        <p:spPr>
          <a:xfrm>
            <a:off x="859536" y="1865376"/>
            <a:ext cx="45628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ditulis untuk pekerja yang tidak berlatar teknis — menyebutkan apa yang dilihat dan apa yang ditekan.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3504" y="2816352"/>
            <a:ext cx="5074920" cy="786384"/>
          </a:xfrm>
          <a:prstGeom prst="roundRect">
            <a:avLst>
              <a:gd name="adj" fmla="val 16279"/>
            </a:avLst>
          </a:prstGeom>
          <a:solidFill>
            <a:srgbClr val="FFFFFF">
              <a:alpha val="76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841248" y="308152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06CB8"/>
          </a:solidFill>
          <a:ln/>
        </p:spPr>
      </p:sp>
      <p:sp>
        <p:nvSpPr>
          <p:cNvPr id="11" name="Text 8"/>
          <p:cNvSpPr/>
          <p:nvPr/>
        </p:nvSpPr>
        <p:spPr>
          <a:xfrm>
            <a:off x="1261872" y="29077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Penyebab disebutkan lebih dulu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31821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68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Pelapor mengerti apa yang sedang terjadi, bukan sekadar menurut.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3504" y="3675888"/>
            <a:ext cx="5074920" cy="786384"/>
          </a:xfrm>
          <a:prstGeom prst="roundRect">
            <a:avLst>
              <a:gd name="adj" fmla="val 16279"/>
            </a:avLst>
          </a:prstGeom>
          <a:solidFill>
            <a:srgbClr val="FFFFFF">
              <a:alpha val="76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" y="394106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8AA019"/>
          </a:solidFill>
          <a:ln/>
        </p:spPr>
      </p:sp>
      <p:sp>
        <p:nvSpPr>
          <p:cNvPr id="15" name="Text 12"/>
          <p:cNvSpPr/>
          <p:nvPr/>
        </p:nvSpPr>
        <p:spPr>
          <a:xfrm>
            <a:off x="1261872" y="37673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langkah bertahap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61872" y="40416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68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 langkah pertama belum menuntaskan, ditawarkan yang berikutnya.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03504" y="4535424"/>
            <a:ext cx="5074920" cy="786384"/>
          </a:xfrm>
          <a:prstGeom prst="roundRect">
            <a:avLst>
              <a:gd name="adj" fmla="val 16279"/>
            </a:avLst>
          </a:prstGeom>
          <a:solidFill>
            <a:srgbClr val="FFFFFF">
              <a:alpha val="76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841248" y="480060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D1B2F"/>
          </a:solidFill>
          <a:ln/>
        </p:spPr>
      </p:sp>
      <p:sp>
        <p:nvSpPr>
          <p:cNvPr id="19" name="Text 16"/>
          <p:cNvSpPr/>
          <p:nvPr/>
        </p:nvSpPr>
        <p:spPr>
          <a:xfrm>
            <a:off x="1261872" y="462686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Berhenti sebelum berisiko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261872" y="490118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68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Begitu perlu izin administrator, langkah berhenti dan mengarahkan ke engineer.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03504" y="5431536"/>
            <a:ext cx="5074920" cy="658368"/>
          </a:xfrm>
          <a:prstGeom prst="roundRect">
            <a:avLst>
              <a:gd name="adj" fmla="val 22222"/>
            </a:avLst>
          </a:prstGeom>
          <a:solidFill>
            <a:srgbClr val="ACC42A"/>
          </a:solidFill>
          <a:ln/>
        </p:spPr>
      </p:sp>
      <p:sp>
        <p:nvSpPr>
          <p:cNvPr id="22" name="Text 19"/>
          <p:cNvSpPr/>
          <p:nvPr/>
        </p:nvSpPr>
        <p:spPr>
          <a:xfrm>
            <a:off x="859536" y="5431536"/>
            <a:ext cx="4562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 masalah dan 194 solusi tersusun di basis pengetahuan.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7548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006CB8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7469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180" dirty="0">
                <a:solidFill>
                  <a:srgbClr val="005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PENCATATAN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3504" y="713232"/>
            <a:ext cx="1098468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D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laporan bernomor dan dapat ditelusuri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71616" y="1636776"/>
            <a:ext cx="5577840" cy="4315968"/>
          </a:xfrm>
          <a:prstGeom prst="roundRect">
            <a:avLst>
              <a:gd name="adj" fmla="val 3814"/>
            </a:avLst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6" name="Image 0" descr="D:\KILAT\KILAT-Ketersediaan-Informasi-Layanan-ICT-Terpadu-main\dokumentasi\tangkapan-layar\laporan\05b-nomor-tiket-cek-statu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26480" y="1691640"/>
            <a:ext cx="5468112" cy="4206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3504" y="1737360"/>
            <a:ext cx="5212080" cy="1225296"/>
          </a:xfrm>
          <a:prstGeom prst="roundRect">
            <a:avLst>
              <a:gd name="adj" fmla="val 13433"/>
            </a:avLst>
          </a:prstGeom>
          <a:solidFill>
            <a:srgbClr val="00395E"/>
          </a:solidFill>
          <a:ln/>
        </p:spPr>
      </p:sp>
      <p:sp>
        <p:nvSpPr>
          <p:cNvPr id="8" name="Text 5"/>
          <p:cNvSpPr/>
          <p:nvPr/>
        </p:nvSpPr>
        <p:spPr>
          <a:xfrm>
            <a:off x="603504" y="1956816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CC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SGP-20260824-0008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03504" y="252374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B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awalan · tanggal WIB · urutan hari itu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3504" y="3200400"/>
            <a:ext cx="5212080" cy="841248"/>
          </a:xfrm>
          <a:prstGeom prst="roundRect">
            <a:avLst>
              <a:gd name="adj" fmla="val 17391"/>
            </a:avLst>
          </a:prstGeom>
          <a:solidFill>
            <a:srgbClr val="E1EFFA"/>
          </a:solidFill>
          <a:ln/>
        </p:spPr>
      </p:sp>
      <p:sp>
        <p:nvSpPr>
          <p:cNvPr id="11" name="Shape 8"/>
          <p:cNvSpPr/>
          <p:nvPr/>
        </p:nvSpPr>
        <p:spPr>
          <a:xfrm>
            <a:off x="859536" y="349300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06CB8"/>
          </a:solidFill>
          <a:ln/>
        </p:spPr>
      </p:sp>
      <p:sp>
        <p:nvSpPr>
          <p:cNvPr id="12" name="Text 9"/>
          <p:cNvSpPr/>
          <p:nvPr/>
        </p:nvSpPr>
        <p:spPr>
          <a:xfrm>
            <a:off x="1280160" y="33101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5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Diberikan sejak awal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80160" y="360273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Nomor terbit begitu sesi dimulai, bukan menunggu eskalasi.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3504" y="4133088"/>
            <a:ext cx="5212080" cy="841248"/>
          </a:xfrm>
          <a:prstGeom prst="roundRect">
            <a:avLst>
              <a:gd name="adj" fmla="val 17391"/>
            </a:avLst>
          </a:prstGeom>
          <a:solidFill>
            <a:srgbClr val="EEF4D9"/>
          </a:solidFill>
          <a:ln/>
        </p:spPr>
      </p:sp>
      <p:sp>
        <p:nvSpPr>
          <p:cNvPr id="15" name="Shape 12"/>
          <p:cNvSpPr/>
          <p:nvPr/>
        </p:nvSpPr>
        <p:spPr>
          <a:xfrm>
            <a:off x="859536" y="442569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8AA019"/>
          </a:solidFill>
          <a:ln/>
        </p:spPr>
      </p:sp>
      <p:sp>
        <p:nvSpPr>
          <p:cNvPr id="16" name="Text 13"/>
          <p:cNvSpPr/>
          <p:nvPr/>
        </p:nvSpPr>
        <p:spPr>
          <a:xfrm>
            <a:off x="1280160" y="424281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C6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dicek sendiri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280160" y="453542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Pelapor memeriksa status kapan saja tanpa menghubungi siapa pun.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03504" y="5065776"/>
            <a:ext cx="5212080" cy="841248"/>
          </a:xfrm>
          <a:prstGeom prst="roundRect">
            <a:avLst>
              <a:gd name="adj" fmla="val 17391"/>
            </a:avLst>
          </a:prstGeom>
          <a:solidFill>
            <a:srgbClr val="FCE4E7"/>
          </a:solidFill>
          <a:ln/>
        </p:spPr>
      </p:sp>
      <p:sp>
        <p:nvSpPr>
          <p:cNvPr id="19" name="Shape 16"/>
          <p:cNvSpPr/>
          <p:nvPr/>
        </p:nvSpPr>
        <p:spPr>
          <a:xfrm>
            <a:off x="859536" y="535838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D1B2F"/>
          </a:solidFill>
          <a:ln/>
        </p:spPr>
      </p:sp>
      <p:sp>
        <p:nvSpPr>
          <p:cNvPr id="20" name="Text 17"/>
          <p:cNvSpPr/>
          <p:nvPr/>
        </p:nvSpPr>
        <p:spPr>
          <a:xfrm>
            <a:off x="1280160" y="517550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41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 bahan rekap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80160" y="546811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laporan terhimpun dan dapat disaring per hari, minggu, atau bulan.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7548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ED1B2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7469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180" dirty="0">
                <a:solidFill>
                  <a:srgbClr val="005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ESKALASI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3504" y="713232"/>
            <a:ext cx="1098468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D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Diteruskan lengkap, bukan sekadar diteruskan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39496" y="1673352"/>
            <a:ext cx="5020056" cy="2862072"/>
          </a:xfrm>
          <a:prstGeom prst="roundRect">
            <a:avLst>
              <a:gd name="adj" fmla="val 6390"/>
            </a:avLst>
          </a:prstGeom>
          <a:solidFill>
            <a:srgbClr val="ED1B2F">
              <a:alpha val="74000"/>
            </a:srgbClr>
          </a:solidFill>
          <a:ln/>
        </p:spPr>
      </p:sp>
      <p:pic>
        <p:nvPicPr>
          <p:cNvPr id="6" name="Image 0" descr="D:\KILAT\KILAT-Ketersediaan-Informasi-Layanan-ICT-Terpadu-main\dokumentasi\ppt\ilustrasi\4-engine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1737360"/>
            <a:ext cx="4892040" cy="27340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3504" y="4626864"/>
            <a:ext cx="4892040" cy="1463040"/>
          </a:xfrm>
          <a:prstGeom prst="roundRect">
            <a:avLst>
              <a:gd name="adj" fmla="val 10000"/>
            </a:avLst>
          </a:prstGeom>
          <a:solidFill>
            <a:srgbClr val="FFFFFF">
              <a:alpha val="76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59536" y="486003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8AA019"/>
          </a:solidFill>
          <a:ln/>
        </p:spPr>
      </p:sp>
      <p:sp>
        <p:nvSpPr>
          <p:cNvPr id="9" name="Text 6"/>
          <p:cNvSpPr/>
          <p:nvPr/>
        </p:nvSpPr>
        <p:spPr>
          <a:xfrm>
            <a:off x="1115568" y="4764024"/>
            <a:ext cx="4306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Nama, fungsi, dan lokasi pelapor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59536" y="52989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8AA019"/>
          </a:solidFill>
          <a:ln/>
        </p:spPr>
      </p:sp>
      <p:sp>
        <p:nvSpPr>
          <p:cNvPr id="11" name="Text 8"/>
          <p:cNvSpPr/>
          <p:nvPr/>
        </p:nvSpPr>
        <p:spPr>
          <a:xfrm>
            <a:off x="1115568" y="5202936"/>
            <a:ext cx="4306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urgensi yang dipilih sendiri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59536" y="573786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8AA019"/>
          </a:solidFill>
          <a:ln/>
        </p:spPr>
      </p:sp>
      <p:sp>
        <p:nvSpPr>
          <p:cNvPr id="13" name="Text 10"/>
          <p:cNvSpPr/>
          <p:nvPr/>
        </p:nvSpPr>
        <p:spPr>
          <a:xfrm>
            <a:off x="1115568" y="5641848"/>
            <a:ext cx="4306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keluhan dan solusi yang sudah dicoba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797296" y="1673352"/>
            <a:ext cx="5852160" cy="3675888"/>
          </a:xfrm>
          <a:prstGeom prst="roundRect">
            <a:avLst>
              <a:gd name="adj" fmla="val 4478"/>
            </a:avLst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15" name="Image 1" descr="D:\KILAT\KILAT-Ketersediaan-Informasi-Layanan-ICT-Terpadu-main\dokumentasi\tangkapan-layar\laporan\06b-eskalasi-serah-terima-whatsapp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852160" y="1737360"/>
            <a:ext cx="5742432" cy="356616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797296" y="5486400"/>
            <a:ext cx="5852160" cy="859536"/>
          </a:xfrm>
          <a:prstGeom prst="roundRect">
            <a:avLst>
              <a:gd name="adj" fmla="val 17021"/>
            </a:avLst>
          </a:prstGeom>
          <a:solidFill>
            <a:srgbClr val="ACC42A"/>
          </a:solidFill>
          <a:ln/>
        </p:spPr>
      </p:sp>
      <p:sp>
        <p:nvSpPr>
          <p:cNvPr id="17" name="Text 13"/>
          <p:cNvSpPr/>
          <p:nvPr/>
        </p:nvSpPr>
        <p:spPr>
          <a:xfrm>
            <a:off x="6089904" y="5614416"/>
            <a:ext cx="5266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menerima laporan yang sudah lengkap — tidak perlu bertanya ulang siapa, di mana, dan sudah dicoba apa saja.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7548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006CB8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7469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180" dirty="0">
                <a:solidFill>
                  <a:srgbClr val="005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 PENGELOLA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3504" y="713232"/>
            <a:ext cx="1098468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D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Rekap untuk admin, daftar tugas untuk engineer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70078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006CB8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627632"/>
            <a:ext cx="5340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006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REKAP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956816"/>
            <a:ext cx="5687568" cy="3346704"/>
          </a:xfrm>
          <a:prstGeom prst="roundRect">
            <a:avLst>
              <a:gd name="adj" fmla="val 4918"/>
            </a:avLst>
          </a:prstGeom>
          <a:solidFill>
            <a:srgbClr val="FFFFFF">
              <a:alpha val="90000"/>
            </a:srgbClr>
          </a:solidFill>
          <a:ln/>
        </p:spPr>
      </p:sp>
      <p:pic>
        <p:nvPicPr>
          <p:cNvPr id="8" name="Image 0" descr="D:\KILAT\KILAT-Ketersediaan-Informasi-Layanan-ICT-Terpadu-main\dokumentasi\tangkapan-layar\13-rekap-layar-pertama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3504" y="2011680"/>
            <a:ext cx="5577840" cy="323697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3504" y="5431536"/>
            <a:ext cx="5577840" cy="896112"/>
          </a:xfrm>
          <a:prstGeom prst="roundRect">
            <a:avLst>
              <a:gd name="adj" fmla="val 16327"/>
            </a:avLst>
          </a:prstGeom>
          <a:solidFill>
            <a:srgbClr val="00395E"/>
          </a:solidFill>
          <a:ln/>
        </p:spPr>
      </p:sp>
      <p:sp>
        <p:nvSpPr>
          <p:cNvPr id="10" name="Text 7"/>
          <p:cNvSpPr/>
          <p:nvPr/>
        </p:nvSpPr>
        <p:spPr>
          <a:xfrm>
            <a:off x="859536" y="5559552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ringkasan, grafik harian, sebaran per layanan dan area, serta unduhan Excel dan cetak PDF.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55664" y="170078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8AA019"/>
          </a:solidFill>
          <a:ln/>
        </p:spPr>
      </p:sp>
      <p:sp>
        <p:nvSpPr>
          <p:cNvPr id="12" name="Text 9"/>
          <p:cNvSpPr/>
          <p:nvPr/>
        </p:nvSpPr>
        <p:spPr>
          <a:xfrm>
            <a:off x="6693408" y="1627632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8AA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TUGAS ENGINEER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0" y="1956816"/>
            <a:ext cx="5248656" cy="3346704"/>
          </a:xfrm>
          <a:prstGeom prst="roundRect">
            <a:avLst>
              <a:gd name="adj" fmla="val 4918"/>
            </a:avLst>
          </a:prstGeom>
          <a:solidFill>
            <a:srgbClr val="FFFFFF">
              <a:alpha val="90000"/>
            </a:srgbClr>
          </a:solidFill>
          <a:ln/>
        </p:spPr>
      </p:sp>
      <p:pic>
        <p:nvPicPr>
          <p:cNvPr id="14" name="Image 1" descr="D:\KILAT\KILAT-Ketersediaan-Informasi-Layanan-ICT-Terpadu-main\dokumentasi\tangkapan-layar\laporan\06-eskalasi-antrian-engineer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55664" y="2011680"/>
            <a:ext cx="5138928" cy="323697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455664" y="5431536"/>
            <a:ext cx="5138928" cy="896112"/>
          </a:xfrm>
          <a:prstGeom prst="roundRect">
            <a:avLst>
              <a:gd name="adj" fmla="val 16327"/>
            </a:avLst>
          </a:prstGeom>
          <a:solidFill>
            <a:srgbClr val="ACC42A"/>
          </a:solidFill>
          <a:ln/>
        </p:spPr>
      </p:sp>
      <p:sp>
        <p:nvSpPr>
          <p:cNvPr id="16" name="Text 12"/>
          <p:cNvSpPr/>
          <p:nvPr/>
        </p:nvSpPr>
        <p:spPr>
          <a:xfrm>
            <a:off x="6711696" y="5559552"/>
            <a:ext cx="4626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0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Tiket yang menunggu, siapa yang sedang mengerjakan, dan berapa lama sebuah laporan sudah menganggur.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1005840"/>
            <a:ext cx="4754880" cy="4754880"/>
          </a:xfrm>
          <a:prstGeom prst="roundRect">
            <a:avLst>
              <a:gd name="adj" fmla="val 50000"/>
            </a:avLst>
          </a:prstGeom>
          <a:solidFill>
            <a:srgbClr val="006CB8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65760" y="4389120"/>
            <a:ext cx="3291840" cy="3291840"/>
          </a:xfrm>
          <a:prstGeom prst="roundRect">
            <a:avLst>
              <a:gd name="adj" fmla="val 50000"/>
            </a:avLst>
          </a:prstGeom>
          <a:solidFill>
            <a:srgbClr val="ACC42A">
              <a:alpha val="11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3504" y="221284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2E5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3200400" y="2487168"/>
            <a:ext cx="45720" cy="1371600"/>
          </a:xfrm>
          <a:prstGeom prst="rect">
            <a:avLst/>
          </a:prstGeom>
          <a:solidFill>
            <a:srgbClr val="ACC42A"/>
          </a:solidFill>
          <a:ln/>
        </p:spPr>
      </p:sp>
      <p:sp>
        <p:nvSpPr>
          <p:cNvPr id="6" name="Text 4"/>
          <p:cNvSpPr/>
          <p:nvPr/>
        </p:nvSpPr>
        <p:spPr>
          <a:xfrm>
            <a:off x="3566160" y="2450592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dan Pengujian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566160" y="35661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BB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Teknologi yang dipakai, hasil pengujian black-box, lalu demonstrasi langsung.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7548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006CB8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7469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180" dirty="0">
                <a:solidFill>
                  <a:srgbClr val="005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TEKNOLOGI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3504" y="713232"/>
            <a:ext cx="1098468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D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Dipilih agar ringan dan mudah dirawat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783080"/>
            <a:ext cx="2688336" cy="2377440"/>
          </a:xfrm>
          <a:prstGeom prst="roundRect">
            <a:avLst>
              <a:gd name="adj" fmla="val 6923"/>
            </a:avLst>
          </a:prstGeom>
          <a:solidFill>
            <a:srgbClr val="006CB8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09397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96112" y="25694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BB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PELADEN APLIKASI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96112" y="2916936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BB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empat pustaka luar — sisanya modul bawaan.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47288" y="1783080"/>
            <a:ext cx="2688336" cy="2377440"/>
          </a:xfrm>
          <a:prstGeom prst="roundRect">
            <a:avLst>
              <a:gd name="adj" fmla="val 6923"/>
            </a:avLst>
          </a:prstGeom>
          <a:solidFill>
            <a:srgbClr val="ACC42A"/>
          </a:solidFill>
          <a:ln/>
        </p:spPr>
      </p:sp>
      <p:sp>
        <p:nvSpPr>
          <p:cNvPr id="10" name="Text 8"/>
          <p:cNvSpPr/>
          <p:nvPr/>
        </p:nvSpPr>
        <p:spPr>
          <a:xfrm>
            <a:off x="3739896" y="209397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739896" y="25694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3F4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DATA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739896" y="2916936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F4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Berupa satu berkas. Tanpa MySQL, tanpa XAMPP.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91072" y="1783080"/>
            <a:ext cx="2688336" cy="2377440"/>
          </a:xfrm>
          <a:prstGeom prst="roundRect">
            <a:avLst>
              <a:gd name="adj" fmla="val 6923"/>
            </a:avLst>
          </a:prstGeom>
          <a:solidFill>
            <a:srgbClr val="00395E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209397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583680" y="25694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BB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ANTARMUKA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83680" y="2916936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BB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berat dimuat terpisah agar pelapor tidak ikut mengunduhnya.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34856" y="1783080"/>
            <a:ext cx="2688336" cy="2377440"/>
          </a:xfrm>
          <a:prstGeom prst="roundRect">
            <a:avLst>
              <a:gd name="adj" fmla="val 6923"/>
            </a:avLst>
          </a:prstGeom>
          <a:solidFill>
            <a:srgbClr val="ED1B2F"/>
          </a:solidFill>
          <a:ln/>
        </p:spPr>
      </p:sp>
      <p:sp>
        <p:nvSpPr>
          <p:cNvPr id="18" name="Text 16"/>
          <p:cNvSpPr/>
          <p:nvPr/>
        </p:nvSpPr>
        <p:spPr>
          <a:xfrm>
            <a:off x="9427464" y="209397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Berkas JSON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427464" y="25694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F6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PENGETAHUAN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427464" y="2916936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F6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disunting lewat peramban, tanpa menyentuh kode.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03504" y="4608576"/>
            <a:ext cx="10984687" cy="1371600"/>
          </a:xfrm>
          <a:prstGeom prst="roundRect">
            <a:avLst>
              <a:gd name="adj" fmla="val 12000"/>
            </a:avLst>
          </a:prstGeom>
          <a:solidFill>
            <a:srgbClr val="FFFFFF">
              <a:alpha val="76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80974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AI, tanpa layanan berbayar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5840" y="523036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8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sistem berjalan di jaringan kantor sendiri.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9440" y="4791456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6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6949440" y="539496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68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pustaka luar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77072" y="4791456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D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8577072" y="539496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68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langganan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04704" y="4791456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8AA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10204704" y="539496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68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berkas basis data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7548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8AA019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7469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180" dirty="0">
                <a:solidFill>
                  <a:srgbClr val="005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3504" y="713232"/>
            <a:ext cx="1098468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D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Diuji dengan metode black-box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783080"/>
            <a:ext cx="3621024" cy="2139696"/>
          </a:xfrm>
          <a:prstGeom prst="roundRect">
            <a:avLst>
              <a:gd name="adj" fmla="val 8547"/>
            </a:avLst>
          </a:prstGeom>
          <a:solidFill>
            <a:srgbClr val="006CB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2112264"/>
            <a:ext cx="3621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03504" y="2971800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utama diuji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3319272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BB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akses halaman utama sampai eskalasi engineer.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783080"/>
            <a:ext cx="3621024" cy="2139696"/>
          </a:xfrm>
          <a:prstGeom prst="roundRect">
            <a:avLst>
              <a:gd name="adj" fmla="val 8547"/>
            </a:avLst>
          </a:prstGeom>
          <a:solidFill>
            <a:srgbClr val="00395E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2112264"/>
            <a:ext cx="3621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ACC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378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389120" y="2971800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CC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pemeriksaan otomatis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3319272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BB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Dijalankan ulang setiap kali SOP atau kode berubah.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74736" y="1783080"/>
            <a:ext cx="3621024" cy="2139696"/>
          </a:xfrm>
          <a:prstGeom prst="roundRect">
            <a:avLst>
              <a:gd name="adj" fmla="val 8547"/>
            </a:avLst>
          </a:prstGeom>
          <a:solidFill>
            <a:srgbClr val="ACC42A"/>
          </a:solidFill>
          <a:ln/>
        </p:spPr>
      </p:sp>
      <p:sp>
        <p:nvSpPr>
          <p:cNvPr id="14" name="Text 12"/>
          <p:cNvSpPr/>
          <p:nvPr/>
        </p:nvSpPr>
        <p:spPr>
          <a:xfrm>
            <a:off x="8174736" y="2112264"/>
            <a:ext cx="3621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8174736" y="2971800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sesuai harapan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49056" y="3319272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3F4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keluaran cocok dengan hasil yang diharapkan.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" y="431596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ED1B2F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4242816"/>
            <a:ext cx="107469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C41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JUGA DIJAGA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3504" y="4590288"/>
            <a:ext cx="5522976" cy="1298448"/>
          </a:xfrm>
          <a:prstGeom prst="roundRect">
            <a:avLst>
              <a:gd name="adj" fmla="val 11268"/>
            </a:avLst>
          </a:prstGeom>
          <a:solidFill>
            <a:srgbClr val="FFFFFF">
              <a:alpha val="8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" y="48097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Keluhan di luar cakupan harus ditolak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112" y="515721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tidak boleh memaksakan jawaban untuk kendala yang bukan urusan IT.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91656" y="4590288"/>
            <a:ext cx="5522976" cy="1298448"/>
          </a:xfrm>
          <a:prstGeom prst="roundRect">
            <a:avLst>
              <a:gd name="adj" fmla="val 11268"/>
            </a:avLst>
          </a:prstGeom>
          <a:solidFill>
            <a:srgbClr val="FFFFFF">
              <a:alpha val="8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684264" y="48097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Keterangan tambahan tidak merusak pencocokan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84264" y="515721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Menyebut ruangan dan waktu tidak boleh menjatuhkan skor di bawah ambang.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023360"/>
            <a:ext cx="4572000" cy="4572000"/>
          </a:xfrm>
          <a:prstGeom prst="roundRect">
            <a:avLst>
              <a:gd name="adj" fmla="val 50000"/>
            </a:avLst>
          </a:prstGeom>
          <a:solidFill>
            <a:srgbClr val="ACC42A">
              <a:alpha val="11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640080" y="-914400"/>
            <a:ext cx="3108960" cy="3108960"/>
          </a:xfrm>
          <a:prstGeom prst="roundRect">
            <a:avLst>
              <a:gd name="adj" fmla="val 50000"/>
            </a:avLst>
          </a:prstGeom>
          <a:solidFill>
            <a:srgbClr val="3F9DE0">
              <a:alpha val="13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16168" y="1408176"/>
            <a:ext cx="5815584" cy="3310128"/>
          </a:xfrm>
          <a:prstGeom prst="roundRect">
            <a:avLst>
              <a:gd name="adj" fmla="val 6630"/>
            </a:avLst>
          </a:prstGeom>
          <a:solidFill>
            <a:srgbClr val="ACC42A">
              <a:alpha val="68000"/>
            </a:srgbClr>
          </a:solidFill>
          <a:ln/>
        </p:spPr>
      </p:sp>
      <p:pic>
        <p:nvPicPr>
          <p:cNvPr id="5" name="Image 0" descr="D:\KILAT\KILAT-Ketersediaan-Informasi-Layanan-ICT-Terpadu-main\dokumentasi\ppt\ilustrasi\5-dem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481328"/>
            <a:ext cx="5669280" cy="31638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3504" y="1609344"/>
            <a:ext cx="2157984" cy="310896"/>
          </a:xfrm>
          <a:prstGeom prst="roundRect">
            <a:avLst>
              <a:gd name="adj" fmla="val 50000"/>
            </a:avLst>
          </a:prstGeom>
          <a:solidFill>
            <a:srgbClr val="ACC42A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609344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40" dirty="0">
                <a:solidFill>
                  <a:srgbClr val="00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BERIKUTNYA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3504" y="2139696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Demonstrasi</a:t>
            </a:r>
            <a:endParaRPr lang="en-US" sz="5400" dirty="0"/>
          </a:p>
          <a:p>
            <a:pPr marL="0" indent="0" algn="l">
              <a:lnSpc>
                <a:spcPts val="6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Langsung</a:t>
            </a:r>
            <a:endParaRPr lang="en-US" sz="5400" dirty="0"/>
          </a:p>
        </p:txBody>
      </p:sp>
      <p:sp>
        <p:nvSpPr>
          <p:cNvPr id="9" name="Shape 6"/>
          <p:cNvSpPr/>
          <p:nvPr/>
        </p:nvSpPr>
        <p:spPr>
          <a:xfrm>
            <a:off x="603504" y="4114800"/>
            <a:ext cx="4206240" cy="27432"/>
          </a:xfrm>
          <a:prstGeom prst="rect">
            <a:avLst/>
          </a:prstGeom>
          <a:solidFill>
            <a:srgbClr val="ACC42A"/>
          </a:solidFill>
          <a:ln/>
        </p:spPr>
      </p:sp>
      <p:sp>
        <p:nvSpPr>
          <p:cNvPr id="10" name="Text 7"/>
          <p:cNvSpPr/>
          <p:nvPr/>
        </p:nvSpPr>
        <p:spPr>
          <a:xfrm>
            <a:off x="603504" y="435254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50" dirty="0">
                <a:solidFill>
                  <a:srgbClr val="BB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dijalankan langsung dari laptop, bukan rekaman.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03504" y="4937760"/>
            <a:ext cx="5212080" cy="146304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877824" y="517093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ACC42A"/>
          </a:solidFill>
          <a:ln/>
        </p:spPr>
      </p:sp>
      <p:sp>
        <p:nvSpPr>
          <p:cNvPr id="13" name="Text 10"/>
          <p:cNvSpPr/>
          <p:nvPr/>
        </p:nvSpPr>
        <p:spPr>
          <a:xfrm>
            <a:off x="1133856" y="5074920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Melapor kendala printer sampai memperoleh panduan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77824" y="560984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ACC42A"/>
          </a:solidFill>
          <a:ln/>
        </p:spPr>
      </p:sp>
      <p:sp>
        <p:nvSpPr>
          <p:cNvPr id="15" name="Text 12"/>
          <p:cNvSpPr/>
          <p:nvPr/>
        </p:nvSpPr>
        <p:spPr>
          <a:xfrm>
            <a:off x="1133856" y="5513832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Eskalasi ke engineer beserta nomor tiketnya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77824" y="604875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ACC42A"/>
          </a:solidFill>
          <a:ln/>
        </p:spPr>
      </p:sp>
      <p:sp>
        <p:nvSpPr>
          <p:cNvPr id="17" name="Text 14"/>
          <p:cNvSpPr/>
          <p:nvPr/>
        </p:nvSpPr>
        <p:spPr>
          <a:xfrm>
            <a:off x="1133856" y="5952744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rekap dan daftar tugas engineer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7548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ED1B2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7469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180" dirty="0">
                <a:solidFill>
                  <a:srgbClr val="5C6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KETERBATASAN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3504" y="713232"/>
            <a:ext cx="1098468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D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belum tercakup, disampaikan apa adanya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783080"/>
            <a:ext cx="5522976" cy="1207008"/>
          </a:xfrm>
          <a:prstGeom prst="roundRect">
            <a:avLst>
              <a:gd name="adj" fmla="val 12121"/>
            </a:avLst>
          </a:prstGeom>
          <a:solidFill>
            <a:srgbClr val="FFFFFF">
              <a:alpha val="8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77824" y="203911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D1B2F"/>
          </a:solidFill>
          <a:ln/>
        </p:spPr>
      </p:sp>
      <p:sp>
        <p:nvSpPr>
          <p:cNvPr id="7" name="Text 5"/>
          <p:cNvSpPr/>
          <p:nvPr/>
        </p:nvSpPr>
        <p:spPr>
          <a:xfrm>
            <a:off x="1316736" y="2002536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mandiri baru dua layanan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16736" y="2331720"/>
            <a:ext cx="4517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68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Enam layanan lain masih diarahkan ke engineer sampai SOP-nya divalidasi.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91656" y="1783080"/>
            <a:ext cx="5522976" cy="1207008"/>
          </a:xfrm>
          <a:prstGeom prst="roundRect">
            <a:avLst>
              <a:gd name="adj" fmla="val 12121"/>
            </a:avLst>
          </a:prstGeom>
          <a:solidFill>
            <a:srgbClr val="FFFFFF">
              <a:alpha val="8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65976" y="203911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06CB8"/>
          </a:solidFill>
          <a:ln/>
        </p:spPr>
      </p:sp>
      <p:sp>
        <p:nvSpPr>
          <p:cNvPr id="11" name="Text 9"/>
          <p:cNvSpPr/>
          <p:nvPr/>
        </p:nvSpPr>
        <p:spPr>
          <a:xfrm>
            <a:off x="7104888" y="2002536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Pencocokan bergantung kosakata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04888" y="2331720"/>
            <a:ext cx="4517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68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Keluhan dengan istilah yang jauh berbeda dapat tidak menemukan kecocokan.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" y="3154680"/>
            <a:ext cx="5522976" cy="1207008"/>
          </a:xfrm>
          <a:prstGeom prst="roundRect">
            <a:avLst>
              <a:gd name="adj" fmla="val 12121"/>
            </a:avLst>
          </a:prstGeom>
          <a:solidFill>
            <a:srgbClr val="FFFFFF">
              <a:alpha val="8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77824" y="341071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8AA019"/>
          </a:solidFill>
          <a:ln/>
        </p:spPr>
      </p:sp>
      <p:sp>
        <p:nvSpPr>
          <p:cNvPr id="15" name="Text 13"/>
          <p:cNvSpPr/>
          <p:nvPr/>
        </p:nvSpPr>
        <p:spPr>
          <a:xfrm>
            <a:off x="1316736" y="3374136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Tolok ukur belum dari keluhan nyata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16736" y="3703320"/>
            <a:ext cx="4517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68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uji disusun pengembang; ketepatan sebenarnya baru terukur setelah dipakai.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91656" y="3154680"/>
            <a:ext cx="5522976" cy="1207008"/>
          </a:xfrm>
          <a:prstGeom prst="roundRect">
            <a:avLst>
              <a:gd name="adj" fmla="val 12121"/>
            </a:avLst>
          </a:prstGeom>
          <a:solidFill>
            <a:srgbClr val="FFFFFF">
              <a:alpha val="8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65976" y="341071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0395E"/>
          </a:solidFill>
          <a:ln/>
        </p:spPr>
      </p:sp>
      <p:sp>
        <p:nvSpPr>
          <p:cNvPr id="19" name="Text 17"/>
          <p:cNvSpPr/>
          <p:nvPr/>
        </p:nvSpPr>
        <p:spPr>
          <a:xfrm>
            <a:off x="7104888" y="3374136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Bergantung WhatsApp dan satu mesin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04888" y="3703320"/>
            <a:ext cx="4517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68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Eskalasi lewat layanan pihak ketiga, dan belum ada cadangan berjalan.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03504" y="4718304"/>
            <a:ext cx="10984687" cy="1243584"/>
          </a:xfrm>
          <a:prstGeom prst="roundRect">
            <a:avLst>
              <a:gd name="adj" fmla="val 13235"/>
            </a:avLst>
          </a:prstGeom>
          <a:solidFill>
            <a:srgbClr val="00395E"/>
          </a:solidFill>
          <a:ln/>
        </p:spPr>
      </p:sp>
      <p:sp>
        <p:nvSpPr>
          <p:cNvPr id="22" name="Shape 20"/>
          <p:cNvSpPr/>
          <p:nvPr/>
        </p:nvSpPr>
        <p:spPr>
          <a:xfrm>
            <a:off x="987552" y="502920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ACC42A"/>
          </a:solidFill>
          <a:ln/>
        </p:spPr>
      </p:sp>
      <p:sp>
        <p:nvSpPr>
          <p:cNvPr id="23" name="Text 21"/>
          <p:cNvSpPr/>
          <p:nvPr/>
        </p:nvSpPr>
        <p:spPr>
          <a:xfrm>
            <a:off x="1499616" y="49377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ACC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Pengembangan lanjutan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499616" y="5321808"/>
            <a:ext cx="9692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BB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Perluasan panduan mandiri untuk enam layanan lainnya, penambahan ragam kata kunci dari keluhan nyata yang terkumpul, dan peninjauan mekanisme respons.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188720"/>
            <a:ext cx="4206240" cy="4206240"/>
          </a:xfrm>
          <a:prstGeom prst="roundRect">
            <a:avLst>
              <a:gd name="adj" fmla="val 50000"/>
            </a:avLst>
          </a:prstGeom>
          <a:solidFill>
            <a:srgbClr val="006CB8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4754880"/>
            <a:ext cx="3108960" cy="3108960"/>
          </a:xfrm>
          <a:prstGeom prst="roundRect">
            <a:avLst>
              <a:gd name="adj" fmla="val 50000"/>
            </a:avLst>
          </a:prstGeom>
          <a:solidFill>
            <a:srgbClr val="ACC42A">
              <a:alpha val="11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03504" y="138988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ACC42A"/>
          </a:solidFill>
          <a:ln/>
        </p:spPr>
      </p:sp>
      <p:sp>
        <p:nvSpPr>
          <p:cNvPr id="5" name="Text 3"/>
          <p:cNvSpPr/>
          <p:nvPr/>
        </p:nvSpPr>
        <p:spPr>
          <a:xfrm>
            <a:off x="603504" y="138988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00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3504" y="192024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SIGAP menyatukan pelaporan, pencatatan,</a:t>
            </a:r>
            <a:endParaRPr lang="en-US" sz="3300" dirty="0"/>
          </a:p>
          <a:p>
            <a:pPr marL="0" indent="0" algn="l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panduan, dan eskalasi dalam satu alur.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603504" y="3712464"/>
            <a:ext cx="3621024" cy="1463040"/>
          </a:xfrm>
          <a:prstGeom prst="roundRect">
            <a:avLst>
              <a:gd name="adj" fmla="val 11250"/>
            </a:avLst>
          </a:prstGeom>
          <a:solidFill>
            <a:srgbClr val="006CB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950208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CC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Pelapor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370832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Memperoleh panduan atau kepastian bahwa laporannya diteruskan.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3712464"/>
            <a:ext cx="3621024" cy="1463040"/>
          </a:xfrm>
          <a:prstGeom prst="roundRect">
            <a:avLst>
              <a:gd name="adj" fmla="val 11250"/>
            </a:avLst>
          </a:prstGeom>
          <a:solidFill>
            <a:srgbClr val="ACC42A"/>
          </a:solidFill>
          <a:ln/>
        </p:spPr>
      </p:sp>
      <p:sp>
        <p:nvSpPr>
          <p:cNvPr id="11" name="Text 9"/>
          <p:cNvSpPr/>
          <p:nvPr/>
        </p:nvSpPr>
        <p:spPr>
          <a:xfrm>
            <a:off x="4700016" y="3950208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0016" y="4370832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E3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Menerima laporan lengkap, tanpa perlu bertanya ulang.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74736" y="3712464"/>
            <a:ext cx="3621024" cy="1463040"/>
          </a:xfrm>
          <a:prstGeom prst="roundRect">
            <a:avLst>
              <a:gd name="adj" fmla="val 11250"/>
            </a:avLst>
          </a:prstGeom>
          <a:solidFill>
            <a:srgbClr val="FFFFFF">
              <a:alpha val="9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485632" y="3950208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5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IT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85632" y="4370832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8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Memiliki data gangguan yang dapat direkap dan dievaluasi.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03504" y="563270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 atas perhatian Bapak dan Ibu.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03504" y="607161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Informatika · Fakultas Teknik · Universitas Islam Riau ·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1725</Words>
  <Application>Microsoft Office PowerPoint</Application>
  <PresentationFormat>Widescreen</PresentationFormat>
  <Paragraphs>263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PT Pertamina EP Asset 1 Regional 1 Field Lirik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SIGAP — Sistem Informasi Gangguan dan Aduan Pelayanan</dc:title>
  <dc:subject>PptxGenJS Presentation</dc:subject>
  <dc:creator>Teknik Informatika UIR</dc:creator>
  <cp:lastModifiedBy>ROG Kaiser</cp:lastModifiedBy>
  <cp:revision>2</cp:revision>
  <dcterms:created xsi:type="dcterms:W3CDTF">2026-08-25T15:21:31Z</dcterms:created>
  <dcterms:modified xsi:type="dcterms:W3CDTF">2026-08-26T13:58:55Z</dcterms:modified>
</cp:coreProperties>
</file>